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gesture_cover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Cover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5191125" y="0"/>
            <a:ext cx="7000875" cy="685800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476250" y="723900"/>
            <a:ext cx="742950" cy="762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476250" y="1009650"/>
            <a:ext cx="4953000" cy="1314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200" b="1">
                <a:solidFill>
                  <a:srgbClr val="FFFFFF"/>
                </a:solidFill>
                <a:latin typeface="Microsoft JhengHei"/>
                <a:ea typeface="Microsoft JhengHei"/>
              </a:rPr>
              <a:t>Gesture Control System 期末報告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4825" y="2457450"/>
            <a:ext cx="4953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E8EDF2"/>
                </a:solidFill>
                <a:latin typeface="Microsoft JhengHei"/>
                <a:ea typeface="Microsoft JhengHei"/>
              </a:rPr>
              <a:t>手勢點餐系統：Focus Mode、Virtual Mouse、Flask 即時互動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4350" y="3733800"/>
            <a:ext cx="476250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200">
                <a:solidFill>
                  <a:srgbClr val="FFFFFF"/>
                </a:solidFill>
                <a:latin typeface="Microsoft JhengHei"/>
                <a:ea typeface="Microsoft JhengHei"/>
              </a:rPr>
              <a:t>期末專題報告</a:t>
            </a:r>
          </a:p>
          <a:p>
            <a:pPr>
              <a:buNone/>
            </a:pPr>
            <a:r>
              <a:rPr lang="zh-TW" sz="2200">
                <a:solidFill>
                  <a:srgbClr val="FFFFFF"/>
                </a:solidFill>
                <a:latin typeface="Microsoft JhengHei"/>
                <a:ea typeface="Microsoft JhengHei"/>
              </a:rPr>
              <a:t>Python / OpenCV / MediaPipe / Flask / Socket.IO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4350" y="58102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500">
                <a:solidFill>
                  <a:srgbClr val="F7C78F"/>
                </a:solidFill>
                <a:latin typeface="Microsoft JhengHei"/>
                <a:ea typeface="Microsoft JhengHei"/>
              </a:rPr>
              <a:t>依評分規範整理：技術、成果、問答、分工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評分規範對應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報告策略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內容完整度：架構、流程、功能、測試、成果都有說明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技術降維：用流程圖與手勢表降低程式理解門檻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實驗結果：列出測試項目、成功功能與改善紀錄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現場問答：預先準備常見問題與回答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團隊分工：依模組切分責任與報告段落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這頁直接對應老師給的評分項目。我們的簡報不是只展示畫面，而是把需求、技術方法、測試結果、可能問題和分工都放進去，讓評審可以快速看到完整度。</a:t>
            </a:r>
          </a:p>
        </p:txBody>
      </p:sp>
      <p:sp>
        <p:nvSpPr>
          <p:cNvPr id="9902" name="Shape 9902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" name="TextBox 10002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2" name="TextBox 10102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02/31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專題動機與需求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問題定義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傳統點餐需要接觸滑鼠、鍵盤或觸控螢幕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手勢操作可以降低接觸成本，也能做出更直覺的展示效果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需求：穩定辨識、即時回饋、可切換模式、可確認訂單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我們的動機是把手勢辨識應用到點餐情境。這個題目不只是辨識手勢，還要能和網頁互動，所以系統需要同時處理影像、手勢邏輯、後端事件和前端 UI。</a:t>
            </a:r>
          </a:p>
        </p:txBody>
      </p:sp>
      <p:sp>
        <p:nvSpPr>
          <p:cNvPr id="9903" name="Shape 9903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" name="TextBox 10003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3" name="TextBox 10103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03/31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09625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系統總體架構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架構</a:t>
            </a:r>
          </a:p>
        </p:txBody>
      </p:sp>
      <p:sp>
        <p:nvSpPr>
          <p:cNvPr id="20" name="Shape 20"/>
          <p:cNvSpPr/>
          <p:nvPr/>
        </p:nvSpPr>
        <p:spPr>
          <a:xfrm>
            <a:off x="781050" y="2857500"/>
            <a:ext cx="1809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914400" y="3086100"/>
            <a:ext cx="1543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Webcam</a:t>
            </a:r>
          </a:p>
        </p:txBody>
      </p:sp>
      <p:cxnSp>
        <p:nvCxnSpPr>
          <p:cNvPr id="70" name="Line 70"/>
          <p:cNvCxnSpPr/>
          <p:nvPr/>
        </p:nvCxnSpPr>
        <p:spPr>
          <a:xfrm>
            <a:off x="2619375" y="3267075"/>
            <a:ext cx="190500" cy="0"/>
          </a:xfrm>
          <a:prstGeom prst="line">
            <a:avLst/>
          </a:prstGeom>
          <a:ln w="38100">
            <a:solidFill>
              <a:srgbClr val="F08A24"/>
            </a:solidFill>
          </a:ln>
        </p:spPr>
      </p:cxnSp>
      <p:sp>
        <p:nvSpPr>
          <p:cNvPr id="80" name="TextBox 80"/>
          <p:cNvSpPr txBox="1"/>
          <p:nvPr/>
        </p:nvSpPr>
        <p:spPr>
          <a:xfrm>
            <a:off x="2647950" y="3048000"/>
            <a:ext cx="238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200" b="1">
                <a:solidFill>
                  <a:srgbClr val="F08A24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1" name="Shape 21"/>
          <p:cNvSpPr/>
          <p:nvPr/>
        </p:nvSpPr>
        <p:spPr>
          <a:xfrm>
            <a:off x="2857500" y="2857500"/>
            <a:ext cx="1809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2990850" y="3086100"/>
            <a:ext cx="1543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HandDetector</a:t>
            </a:r>
          </a:p>
        </p:txBody>
      </p:sp>
      <p:cxnSp>
        <p:nvCxnSpPr>
          <p:cNvPr id="71" name="Line 71"/>
          <p:cNvCxnSpPr/>
          <p:nvPr/>
        </p:nvCxnSpPr>
        <p:spPr>
          <a:xfrm>
            <a:off x="4695825" y="3267075"/>
            <a:ext cx="190500" cy="0"/>
          </a:xfrm>
          <a:prstGeom prst="line">
            <a:avLst/>
          </a:prstGeom>
          <a:ln w="38100">
            <a:solidFill>
              <a:srgbClr val="F08A24"/>
            </a:solidFill>
          </a:ln>
        </p:spPr>
      </p:cxnSp>
      <p:sp>
        <p:nvSpPr>
          <p:cNvPr id="81" name="TextBox 81"/>
          <p:cNvSpPr txBox="1"/>
          <p:nvPr/>
        </p:nvSpPr>
        <p:spPr>
          <a:xfrm>
            <a:off x="4724400" y="3048000"/>
            <a:ext cx="238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200" b="1">
                <a:solidFill>
                  <a:srgbClr val="F08A24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2" name="Shape 22"/>
          <p:cNvSpPr/>
          <p:nvPr/>
        </p:nvSpPr>
        <p:spPr>
          <a:xfrm>
            <a:off x="4933950" y="2857500"/>
            <a:ext cx="1809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5067300" y="3086100"/>
            <a:ext cx="1543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GestureLogic</a:t>
            </a:r>
          </a:p>
        </p:txBody>
      </p:sp>
      <p:cxnSp>
        <p:nvCxnSpPr>
          <p:cNvPr id="72" name="Line 72"/>
          <p:cNvCxnSpPr/>
          <p:nvPr/>
        </p:nvCxnSpPr>
        <p:spPr>
          <a:xfrm>
            <a:off x="6772275" y="3267075"/>
            <a:ext cx="190500" cy="0"/>
          </a:xfrm>
          <a:prstGeom prst="line">
            <a:avLst/>
          </a:prstGeom>
          <a:ln w="38100">
            <a:solidFill>
              <a:srgbClr val="F08A24"/>
            </a:solidFill>
          </a:ln>
        </p:spPr>
      </p:cxnSp>
      <p:sp>
        <p:nvSpPr>
          <p:cNvPr id="82" name="TextBox 82"/>
          <p:cNvSpPr txBox="1"/>
          <p:nvPr/>
        </p:nvSpPr>
        <p:spPr>
          <a:xfrm>
            <a:off x="6800850" y="3048000"/>
            <a:ext cx="238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200" b="1">
                <a:solidFill>
                  <a:srgbClr val="F08A24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3" name="Shape 23"/>
          <p:cNvSpPr/>
          <p:nvPr/>
        </p:nvSpPr>
        <p:spPr>
          <a:xfrm>
            <a:off x="7010400" y="2857500"/>
            <a:ext cx="1809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7143750" y="3086100"/>
            <a:ext cx="1543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Socket.IO</a:t>
            </a:r>
          </a:p>
        </p:txBody>
      </p:sp>
      <p:cxnSp>
        <p:nvCxnSpPr>
          <p:cNvPr id="73" name="Line 73"/>
          <p:cNvCxnSpPr/>
          <p:nvPr/>
        </p:nvCxnSpPr>
        <p:spPr>
          <a:xfrm>
            <a:off x="8848725" y="3267075"/>
            <a:ext cx="190500" cy="0"/>
          </a:xfrm>
          <a:prstGeom prst="line">
            <a:avLst/>
          </a:prstGeom>
          <a:ln w="38100">
            <a:solidFill>
              <a:srgbClr val="F08A24"/>
            </a:solidFill>
          </a:ln>
        </p:spPr>
      </p:cxnSp>
      <p:sp>
        <p:nvSpPr>
          <p:cNvPr id="83" name="TextBox 83"/>
          <p:cNvSpPr txBox="1"/>
          <p:nvPr/>
        </p:nvSpPr>
        <p:spPr>
          <a:xfrm>
            <a:off x="8877300" y="3048000"/>
            <a:ext cx="238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200" b="1">
                <a:solidFill>
                  <a:srgbClr val="F08A24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4" name="Shape 24"/>
          <p:cNvSpPr/>
          <p:nvPr/>
        </p:nvSpPr>
        <p:spPr>
          <a:xfrm>
            <a:off x="9086850" y="2857500"/>
            <a:ext cx="1809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9220200" y="3086100"/>
            <a:ext cx="1543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Flask UI</a:t>
            </a:r>
          </a:p>
        </p:txBody>
      </p:sp>
      <p:sp>
        <p:nvSpPr>
          <p:cNvPr id="100" name="Shape 100"/>
          <p:cNvSpPr/>
          <p:nvPr/>
        </p:nvSpPr>
        <p:spPr>
          <a:xfrm>
            <a:off x="514350" y="1238250"/>
            <a:ext cx="438150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800100" y="1504950"/>
            <a:ext cx="3810000" cy="3333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000">
                <a:solidFill>
                  <a:srgbClr val="20242A"/>
                </a:solidFill>
                <a:latin typeface="Microsoft JhengHei"/>
                <a:ea typeface="Microsoft JhengHei"/>
              </a:rPr>
              <a:t>Webcam 讀取影像，HandDetector 偵測手部 landmarks</a:t>
            </a:r>
          </a:p>
          <a:p>
            <a:pPr marL="285750" indent="-171450">
              <a:buChar char="•"/>
            </a:pPr>
            <a:r>
              <a:rPr lang="zh-TW" sz="2000">
                <a:solidFill>
                  <a:srgbClr val="20242A"/>
                </a:solidFill>
                <a:latin typeface="Microsoft JhengHei"/>
                <a:ea typeface="Microsoft JhengHei"/>
              </a:rPr>
              <a:t>GestureLogic 將 landmarks 轉成 LEFT / RIGHT / PLUS / MINUS / CHECKOUT</a:t>
            </a:r>
          </a:p>
          <a:p>
            <a:pPr marL="285750" indent="-171450">
              <a:buChar char="•"/>
            </a:pPr>
            <a:r>
              <a:rPr lang="zh-TW" sz="2000">
                <a:solidFill>
                  <a:srgbClr val="20242A"/>
                </a:solidFill>
                <a:latin typeface="Microsoft JhengHei"/>
                <a:ea typeface="Microsoft JhengHei"/>
              </a:rPr>
              <a:t>main.py 透過 Socket.IO 把手勢送給 Flask UI</a:t>
            </a:r>
          </a:p>
          <a:p>
            <a:pPr marL="285750" indent="-171450">
              <a:buChar char="•"/>
            </a:pPr>
            <a:r>
              <a:rPr lang="zh-TW" sz="2000">
                <a:solidFill>
                  <a:srgbClr val="20242A"/>
                </a:solidFill>
                <a:latin typeface="Microsoft JhengHei"/>
                <a:ea typeface="Microsoft JhengHei"/>
              </a:rPr>
              <a:t>FocusMode 更新菜單；VirtualMouse 控制 Windows 滑鼠</a:t>
            </a:r>
          </a:p>
        </p:txBody>
      </p:sp>
      <p:sp>
        <p:nvSpPr>
          <p:cNvPr id="9904" name="Shape 9904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4" name="TextBox 10004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4" name="TextBox 10104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04/31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技術環境與工具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技術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Python 3.11：主程式、影像處理、Socket.IO client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OpenCV：攝影機畫面、鏡像與除錯顯示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MediaPipe：手部 landmarks 偵測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Flask + Flask-SocketIO：網頁與即時事件同步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HTML / CSS / JavaScript：菜單 UI、數量與訂單明細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這頁說明技術棧。Python 負責影像與控制流程，MediaPipe 負責手部偵測，Flask 和 Socket.IO 負責把後端手勢即時傳到前端。前端則負責顯示菜單和訂單。</a:t>
            </a:r>
          </a:p>
        </p:txBody>
      </p:sp>
      <p:sp>
        <p:nvSpPr>
          <p:cNvPr id="9905" name="Shape 9905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" name="TextBox 10005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5" name="TextBox 10105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05/31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主要操作流程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使用者流程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張開手掌停留 1 秒：切換 Focus / Mouse 模式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Focus Mode：左右滑選餐點，上滑增加，下滑減少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第一次 OK：開啟確認明細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第二次 OK：送出訂單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Mouse Mode：手掌偏移移動游標，拇指手勢點擊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使用者流程設計成兩種模式。Focus Mode 針對點餐，操作簡單明確；Mouse Mode 則讓使用者可以用手掌控制滑鼠。確認訂單採兩段式 OK，避免誤觸直接送出。</a:t>
            </a:r>
          </a:p>
        </p:txBody>
      </p:sp>
      <p:sp>
        <p:nvSpPr>
          <p:cNvPr id="9906" name="Shape 9906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" name="TextBox 10006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6" name="TextBox 10106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06/31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Focus Mode 設計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控制邏輯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FocusMode 只管理 5 個餐點索引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RIGHT / LEFT：循環切換目前餐點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PLUS / MINUS：對目前餐點加減數量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CHECKOUT：不混入餐點循環，獨立觸發確認流程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Focus Mode 的重點是降低操作複雜度。原本確認餐點如果混在菜單循環裡，使用者要切到最後一格才確認；現在改成 OK 手勢獨立確認，操作更自然。</a:t>
            </a:r>
          </a:p>
        </p:txBody>
      </p:sp>
      <p:sp>
        <p:nvSpPr>
          <p:cNvPr id="9907" name="Shape 9907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" name="TextBox 10007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7" name="TextBox 10107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07/31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手勢判斷邏輯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GestureLogic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左右滑：比較食指指尖 x 位移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上 / 下滑：比較食指指尖 y 位移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OK：拇指與食指靠近，且中指、無名指、小指伸直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冷卻時間：避免同一手勢連續觸發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張開手掌停留：用於模式切換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GestureLogic 是手勢辨識的核心。它不是直接做複雜模型分類，而是使用 landmarks 的幾何關係判斷，這樣比較容易解釋，也方便調整靈敏度。</a:t>
            </a:r>
          </a:p>
        </p:txBody>
      </p:sp>
      <p:sp>
        <p:nvSpPr>
          <p:cNvPr id="9908" name="Shape 9908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8" name="TextBox 10008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8" name="TextBox 10108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08/31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Virtual Mouse Mode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虛擬滑鼠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使用手掌中心相對畫面中心的偏移量控制游標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加入 deadzone，避免手在中心附近微抖造成游標漂移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使用 Windows user32 API 移動滑鼠與點擊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拇指手勢觸發左鍵點擊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虛擬滑鼠模式不是把手的位置直接映射到螢幕，而是依照偏移量產生移動速度，這樣比較像搖桿控制，也比較不容易突然跳動。</a:t>
            </a:r>
          </a:p>
        </p:txBody>
      </p:sp>
      <p:sp>
        <p:nvSpPr>
          <p:cNvPr id="9909" name="Shape 9909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" name="TextBox 10009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09" name="TextBox 10109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09/31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Webcam 與 HandDetector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影像偵測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Webcam 設定高解析度與鏡像畫面，提升操作直覺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HandDetector 優先使用 MediaPipe Tasks API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Tasks 失敗時改用 MediaPipe Solutions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保留 OpenCV fallback，方便沒有模型時除錯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影像偵測層的設計重點是穩定性。MediaPipe Tasks API 準確度較好，所以優先使用；如果環境或模型有問題，會嘗試其他方式，避免整個系統直接無法展示。</a:t>
            </a:r>
          </a:p>
        </p:txBody>
      </p:sp>
      <p:sp>
        <p:nvSpPr>
          <p:cNvPr id="9910" name="Shape 9910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0" name="TextBox 10010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0" name="TextBox 10110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10/31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Flask 與 Socket.IO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即時同步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Flask 提供菜單頁面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Socket.IO 傳送 mode_change 與 gesture 事件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後端只在 Focus Mode 時更新菜單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前端收到 focus_update 後更新選取、數量或確認明細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Flask 和 Socket.IO 是後端與前端的橋梁。這樣主程式只需要送出手勢事件，網頁 UI 自己負責畫面變化，讓影像處理和前端顯示分工清楚。</a:t>
            </a:r>
          </a:p>
        </p:txBody>
      </p:sp>
      <p:sp>
        <p:nvSpPr>
          <p:cNvPr id="9911" name="Shape 9911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1" name="TextBox 10011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1" name="TextBox 10111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11/31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前端 UI 與確認流程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使用體驗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菜單卡片顯示圖片、價格、數量與目前選取狀態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右側手勢教學使用 SVG 貼圖提示操作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確認餐點獨立放在菜單下方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第一次 OK 開明細；第二次 OK 送出訂單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前端設計的重點是讓展示者和觀眾都看得懂目前狀態。右側有手勢教學，底部有模式、狀態和總金額。確認流程獨立放在下方，可以避免和餐點混淆。</a:t>
            </a:r>
          </a:p>
        </p:txBody>
      </p:sp>
      <p:sp>
        <p:nvSpPr>
          <p:cNvPr id="9912" name="Shape 9912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2" name="TextBox 10012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2" name="TextBox 10112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12/31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測試與驗證結果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實驗結果</a:t>
            </a:r>
          </a:p>
        </p:txBody>
      </p:sp>
      <p:sp>
        <p:nvSpPr>
          <p:cNvPr id="20" name="Shape 20"/>
          <p:cNvSpPr/>
          <p:nvPr/>
        </p:nvSpPr>
        <p:spPr>
          <a:xfrm>
            <a:off x="5715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8001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01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compileall：確認 Python 檔案語法正確</a:t>
            </a:r>
          </a:p>
        </p:txBody>
      </p:sp>
      <p:sp>
        <p:nvSpPr>
          <p:cNvPr id="21" name="Shape 21"/>
          <p:cNvSpPr/>
          <p:nvPr/>
        </p:nvSpPr>
        <p:spPr>
          <a:xfrm>
            <a:off x="34290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36576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576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unittest：6 個 GestureLogic 單元測試通過</a:t>
            </a:r>
          </a:p>
        </p:txBody>
      </p:sp>
      <p:sp>
        <p:nvSpPr>
          <p:cNvPr id="22" name="Shape 22"/>
          <p:cNvSpPr/>
          <p:nvPr/>
        </p:nvSpPr>
        <p:spPr>
          <a:xfrm>
            <a:off x="62865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65151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51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Flask render：首頁回傳 200 OK</a:t>
            </a:r>
          </a:p>
        </p:txBody>
      </p:sp>
      <p:sp>
        <p:nvSpPr>
          <p:cNvPr id="23" name="Shape 23"/>
          <p:cNvSpPr/>
          <p:nvPr/>
        </p:nvSpPr>
        <p:spPr>
          <a:xfrm>
            <a:off x="91440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93726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726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頁面內容檢查：OK 手勢、確認餐點、訂單明細皆存在</a:t>
            </a:r>
          </a:p>
        </p:txBody>
      </p:sp>
      <p:sp>
        <p:nvSpPr>
          <p:cNvPr id="9913" name="Shape 9913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" name="TextBox 10013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3" name="TextBox 10113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13/31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開發問題與解法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問題解決</a:t>
            </a:r>
          </a:p>
        </p:txBody>
      </p:sp>
      <p:sp>
        <p:nvSpPr>
          <p:cNvPr id="20" name="Shape 20"/>
          <p:cNvSpPr/>
          <p:nvPr/>
        </p:nvSpPr>
        <p:spPr>
          <a:xfrm>
            <a:off x="5715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8001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01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MediaPipe import 錯誤：統一 Python 3.11 與 mediapipe 版本</a:t>
            </a:r>
          </a:p>
        </p:txBody>
      </p:sp>
      <p:sp>
        <p:nvSpPr>
          <p:cNvPr id="21" name="Shape 21"/>
          <p:cNvSpPr/>
          <p:nvPr/>
        </p:nvSpPr>
        <p:spPr>
          <a:xfrm>
            <a:off x="34290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36576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576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拇指加減不敏感：改成上滑 / 下滑調整數量</a:t>
            </a:r>
          </a:p>
        </p:txBody>
      </p:sp>
      <p:sp>
        <p:nvSpPr>
          <p:cNvPr id="22" name="Shape 22"/>
          <p:cNvSpPr/>
          <p:nvPr/>
        </p:nvSpPr>
        <p:spPr>
          <a:xfrm>
            <a:off x="62865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65151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51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握拳確認不穩：改成 OK 手勢確認</a:t>
            </a:r>
          </a:p>
        </p:txBody>
      </p:sp>
      <p:sp>
        <p:nvSpPr>
          <p:cNvPr id="23" name="Shape 23"/>
          <p:cNvSpPr/>
          <p:nvPr/>
        </p:nvSpPr>
        <p:spPr>
          <a:xfrm>
            <a:off x="91440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93726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726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誤送訂單風險：採兩段式 OK 確認</a:t>
            </a:r>
          </a:p>
        </p:txBody>
      </p:sp>
      <p:sp>
        <p:nvSpPr>
          <p:cNvPr id="9914" name="Shape 9914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4" name="TextBox 10014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4" name="TextBox 10114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14/31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資料夾與模組分工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團隊分工</a:t>
            </a:r>
          </a:p>
        </p:txBody>
      </p:sp>
      <p:sp>
        <p:nvSpPr>
          <p:cNvPr id="20" name="Shape 20"/>
          <p:cNvSpPr/>
          <p:nvPr/>
        </p:nvSpPr>
        <p:spPr>
          <a:xfrm>
            <a:off x="5715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8001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01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vision/：攝影機、手部偵測、手勢判斷</a:t>
            </a:r>
          </a:p>
        </p:txBody>
      </p:sp>
      <p:sp>
        <p:nvSpPr>
          <p:cNvPr id="21" name="Shape 21"/>
          <p:cNvSpPr/>
          <p:nvPr/>
        </p:nvSpPr>
        <p:spPr>
          <a:xfrm>
            <a:off x="34290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36576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576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control/：Focus Mode 與虛擬滑鼠控制</a:t>
            </a:r>
          </a:p>
        </p:txBody>
      </p:sp>
      <p:sp>
        <p:nvSpPr>
          <p:cNvPr id="22" name="Shape 22"/>
          <p:cNvSpPr/>
          <p:nvPr/>
        </p:nvSpPr>
        <p:spPr>
          <a:xfrm>
            <a:off x="62865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65151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51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flask_server/：Flask、Socket.IO、前端 UI</a:t>
            </a:r>
          </a:p>
        </p:txBody>
      </p:sp>
      <p:sp>
        <p:nvSpPr>
          <p:cNvPr id="23" name="Shape 23"/>
          <p:cNvSpPr/>
          <p:nvPr/>
        </p:nvSpPr>
        <p:spPr>
          <a:xfrm>
            <a:off x="9144000" y="158115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9372600" y="18288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4000" b="1">
                <a:solidFill>
                  <a:srgbClr val="F08A24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72600" y="2571750"/>
            <a:ext cx="21145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 b="1">
                <a:solidFill>
                  <a:srgbClr val="20242A"/>
                </a:solidFill>
                <a:latin typeface="Microsoft JhengHei"/>
                <a:ea typeface="Microsoft JhengHei"/>
              </a:rPr>
              <a:t>tests/：手勢邏輯單元測試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66750" y="4381500"/>
            <a:ext cx="10287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000">
                <a:solidFill>
                  <a:srgbClr val="20242A"/>
                </a:solidFill>
                <a:latin typeface="Microsoft JhengHei"/>
                <a:ea typeface="Microsoft JhengHei"/>
              </a:rPr>
              <a:t>README / AGENTME：架構說明與修改規範</a:t>
            </a:r>
          </a:p>
        </p:txBody>
      </p:sp>
      <p:sp>
        <p:nvSpPr>
          <p:cNvPr id="9915" name="Shape 9915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5" name="TextBox 10015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5" name="TextBox 10115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15/31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Demo 操作腳本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現場展示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啟動 python main.py，開啟 http://localhost:5000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展示 Focus Mode：左右滑切換餐點，上下滑調整數量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展示 OK：第一次開明細，第二次送出訂單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展示模式切換：張開手掌停留 1 秒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展示 Mouse Mode：手掌控制游標，拇指點擊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現場展示建議按照這個順序，先展示點餐核心功能，再展示模式切換和虛擬滑鼠。這樣觀眾比較容易理解系統從點餐到進階控制的完整性。</a:t>
            </a:r>
          </a:p>
        </p:txBody>
      </p:sp>
      <p:sp>
        <p:nvSpPr>
          <p:cNvPr id="9916" name="Shape 9916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" name="TextBox 10016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6" name="TextBox 10116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16/31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可能問題 1：為什麼不用 AI 分類模型？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Q&amp;A</a:t>
            </a:r>
          </a:p>
        </p:txBody>
      </p:sp>
      <p:sp>
        <p:nvSpPr>
          <p:cNvPr id="10" name="Shape 10"/>
          <p:cNvSpPr/>
          <p:nvPr/>
        </p:nvSpPr>
        <p:spPr>
          <a:xfrm>
            <a:off x="514350" y="1333500"/>
            <a:ext cx="3143250" cy="371475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08A24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81050" y="1638300"/>
            <a:ext cx="2571750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000" b="1">
                <a:solidFill>
                  <a:srgbClr val="F08A24"/>
                </a:solidFill>
                <a:latin typeface="Microsoft JhengHei"/>
                <a:ea typeface="Microsoft JhengHei"/>
              </a:rPr>
              <a:t>可能被問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50" y="2952750"/>
            <a:ext cx="2571750" cy="12382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400" b="1">
                <a:solidFill>
                  <a:srgbClr val="20242A"/>
                </a:solidFill>
                <a:latin typeface="Microsoft JhengHei"/>
                <a:ea typeface="Microsoft JhengHei"/>
              </a:rPr>
              <a:t>Q1：為什麼不用 AI 分類模型？</a:t>
            </a:r>
          </a:p>
        </p:txBody>
      </p:sp>
      <p:sp>
        <p:nvSpPr>
          <p:cNvPr id="20" name="Shape 20"/>
          <p:cNvSpPr/>
          <p:nvPr/>
        </p:nvSpPr>
        <p:spPr>
          <a:xfrm>
            <a:off x="4095750" y="1333500"/>
            <a:ext cx="73342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476750" y="1695450"/>
            <a:ext cx="6572250" cy="2952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回答：本專題重點是即時互動與可展示穩定度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使用 landmarks 幾何規則，較容易除錯與調整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若未來要支援更多手勢，可再加入訓練模型</a:t>
            </a:r>
          </a:p>
        </p:txBody>
      </p:sp>
      <p:sp>
        <p:nvSpPr>
          <p:cNvPr id="9917" name="Shape 9917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" name="TextBox 10017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7" name="TextBox 10117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17/31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可能問題 2：如何避免誤觸？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Q&amp;A</a:t>
            </a:r>
          </a:p>
        </p:txBody>
      </p:sp>
      <p:sp>
        <p:nvSpPr>
          <p:cNvPr id="10" name="Shape 10"/>
          <p:cNvSpPr/>
          <p:nvPr/>
        </p:nvSpPr>
        <p:spPr>
          <a:xfrm>
            <a:off x="514350" y="1333500"/>
            <a:ext cx="3143250" cy="371475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08A24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81050" y="1638300"/>
            <a:ext cx="2571750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000" b="1">
                <a:solidFill>
                  <a:srgbClr val="F08A24"/>
                </a:solidFill>
                <a:latin typeface="Microsoft JhengHei"/>
                <a:ea typeface="Microsoft JhengHei"/>
              </a:rPr>
              <a:t>可能被問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50" y="2952750"/>
            <a:ext cx="2571750" cy="12382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400" b="1">
                <a:solidFill>
                  <a:srgbClr val="20242A"/>
                </a:solidFill>
                <a:latin typeface="Microsoft JhengHei"/>
                <a:ea typeface="Microsoft JhengHei"/>
              </a:rPr>
              <a:t>Q2：如何避免誤觸？</a:t>
            </a:r>
          </a:p>
        </p:txBody>
      </p:sp>
      <p:sp>
        <p:nvSpPr>
          <p:cNvPr id="20" name="Shape 20"/>
          <p:cNvSpPr/>
          <p:nvPr/>
        </p:nvSpPr>
        <p:spPr>
          <a:xfrm>
            <a:off x="4095750" y="1333500"/>
            <a:ext cx="73342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476750" y="1695450"/>
            <a:ext cx="6572250" cy="2952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冷卻時間避免短時間連續觸發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模式切換要求張開手掌穩定停留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OK 確認採兩段式流程，避免直接送出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滑鼠模式加入 deadzone 降低游標漂移</a:t>
            </a:r>
          </a:p>
        </p:txBody>
      </p:sp>
      <p:sp>
        <p:nvSpPr>
          <p:cNvPr id="9918" name="Shape 9918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8" name="TextBox 10018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8" name="TextBox 10118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18/31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可能問題 3：系統限制與改善方向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Q&amp;A</a:t>
            </a:r>
          </a:p>
        </p:txBody>
      </p:sp>
      <p:sp>
        <p:nvSpPr>
          <p:cNvPr id="10" name="Shape 10"/>
          <p:cNvSpPr/>
          <p:nvPr/>
        </p:nvSpPr>
        <p:spPr>
          <a:xfrm>
            <a:off x="514350" y="1333500"/>
            <a:ext cx="3143250" cy="371475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08A24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81050" y="1638300"/>
            <a:ext cx="2571750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000" b="1">
                <a:solidFill>
                  <a:srgbClr val="F08A24"/>
                </a:solidFill>
                <a:latin typeface="Microsoft JhengHei"/>
                <a:ea typeface="Microsoft JhengHei"/>
              </a:rPr>
              <a:t>可能被問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50" y="2952750"/>
            <a:ext cx="2571750" cy="12382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400" b="1">
                <a:solidFill>
                  <a:srgbClr val="20242A"/>
                </a:solidFill>
                <a:latin typeface="Microsoft JhengHei"/>
                <a:ea typeface="Microsoft JhengHei"/>
              </a:rPr>
              <a:t>Q3：系統限制與改善方向</a:t>
            </a:r>
          </a:p>
        </p:txBody>
      </p:sp>
      <p:sp>
        <p:nvSpPr>
          <p:cNvPr id="20" name="Shape 20"/>
          <p:cNvSpPr/>
          <p:nvPr/>
        </p:nvSpPr>
        <p:spPr>
          <a:xfrm>
            <a:off x="4095750" y="1333500"/>
            <a:ext cx="73342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476750" y="1695450"/>
            <a:ext cx="6572250" cy="2952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限制：光線、背景、手部遮擋會影響 landmarks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限制：目前以單手與 Windows 展示為主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改善：加入手勢校正、靈敏度設定、訂單資料儲存</a:t>
            </a:r>
          </a:p>
          <a:p>
            <a:pPr marL="285750" indent="-171450">
              <a:buChar char="•"/>
            </a:pPr>
            <a:r>
              <a:rPr lang="zh-TW" sz="2200">
                <a:solidFill>
                  <a:srgbClr val="20242A"/>
                </a:solidFill>
                <a:latin typeface="Microsoft JhengHei"/>
                <a:ea typeface="Microsoft JhengHei"/>
              </a:rPr>
              <a:t>改善：支援更多平台與更多點餐品項</a:t>
            </a:r>
          </a:p>
        </p:txBody>
      </p:sp>
      <p:sp>
        <p:nvSpPr>
          <p:cNvPr id="9919" name="Shape 9919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9" name="TextBox 10019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19" name="TextBox 10119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19/31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程式碼講解分區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報告附錄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main.py：整合 Flask、攝影機、Socket.IO 與模式流程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vision/：Webcam、HandDetector、GestureLogic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control/：FocusMode 與 VirtualMouse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flask_server/：後端事件與前端互動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tests/：手勢邏輯驗證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如果報告時間足夠，可以用這頁進入程式碼講解。建議不要逐行講，而是依照模組分區，講每個區塊的責任、核心函式和為什麼這樣設計。</a:t>
            </a:r>
          </a:p>
        </p:txBody>
      </p:sp>
      <p:sp>
        <p:nvSpPr>
          <p:cNvPr id="9920" name="Shape 9920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0" name="TextBox 10020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0" name="TextBox 10120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20/31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400" b="1">
                <a:solidFill>
                  <a:srgbClr val="20242A"/>
                </a:solidFill>
                <a:latin typeface="Microsoft JhengHei"/>
                <a:ea typeface="Microsoft JhengHei"/>
              </a:rPr>
              <a:t>結論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成果總結</a:t>
            </a:r>
          </a:p>
        </p:txBody>
      </p:sp>
      <p:sp>
        <p:nvSpPr>
          <p:cNvPr id="10" name="Shape 10"/>
          <p:cNvSpPr/>
          <p:nvPr/>
        </p:nvSpPr>
        <p:spPr>
          <a:xfrm>
            <a:off x="552450" y="1428750"/>
            <a:ext cx="50006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1790700"/>
            <a:ext cx="4429125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完成可操作的手勢點餐系統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具備 Focus Mode、Virtual Mouse Mode 與即時網頁回饋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已整理架構、測試、手勢教學與確認流程</a:t>
            </a:r>
          </a:p>
          <a:p>
            <a:pPr marL="285750" indent="-171450">
              <a:buChar char="•"/>
            </a:pPr>
            <a:r>
              <a:rPr lang="zh-TW" sz="2300">
                <a:solidFill>
                  <a:srgbClr val="20242A"/>
                </a:solidFill>
                <a:latin typeface="Microsoft JhengHei"/>
                <a:ea typeface="Microsoft JhengHei"/>
              </a:rPr>
              <a:t>未來可擴充資料庫、更多手勢與多平台支援</a:t>
            </a:r>
          </a:p>
        </p:txBody>
      </p:sp>
      <p:sp>
        <p:nvSpPr>
          <p:cNvPr id="20" name="Shape 20"/>
          <p:cNvSpPr/>
          <p:nvPr/>
        </p:nvSpPr>
        <p:spPr>
          <a:xfrm>
            <a:off x="6191250" y="1428750"/>
            <a:ext cx="4762500" cy="3810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72250" y="1905000"/>
            <a:ext cx="4000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2000">
                <a:solidFill>
                  <a:srgbClr val="69707A"/>
                </a:solidFill>
                <a:latin typeface="Microsoft JhengHei"/>
                <a:ea typeface="Microsoft JhengHei"/>
              </a:rPr>
              <a:t>結論要收斂到成果：我們完成了一個可以展示的手勢點餐系統，而且不只是辨識手勢，還包含完整的網頁互動、確認流程和測試驗證。</a:t>
            </a:r>
          </a:p>
        </p:txBody>
      </p:sp>
      <p:sp>
        <p:nvSpPr>
          <p:cNvPr id="9921" name="Shape 9921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1" name="TextBox 10021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1" name="TextBox 10121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21/31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main.py 主流程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run_flask()：把 Flask Server 放到背景執行緒，讓主執行緒可以保留給 OpenCV 攝影機迴圈。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22098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3622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connect_socketio_client()：主程式用 Socket.IO Client 連回本機 Flask Server，把手勢事件送到前端。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3162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314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initialize_detector()：初始化 HandDetector，若 MediaPipe 不可用則提示使用者檢查 Python 與套件版本。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41148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42672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get_palm_center()：用多個掌心附近 landmarks 平均，讓滑鼠控制比單一指尖更穩定。</a:t>
            </a:r>
          </a:p>
        </p:txBody>
      </p:sp>
      <p:sp>
        <p:nvSpPr>
          <p:cNvPr id="24" name="Shape 24"/>
          <p:cNvSpPr/>
          <p:nvPr/>
        </p:nvSpPr>
        <p:spPr>
          <a:xfrm>
            <a:off x="666750" y="5067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4" name="TextBox 54"/>
          <p:cNvSpPr txBox="1"/>
          <p:nvPr/>
        </p:nvSpPr>
        <p:spPr>
          <a:xfrm>
            <a:off x="895350" y="5219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compute_cursor_speed()：加入 deadzone 與速度上限，避免手部微抖造成游標漂移。</a:t>
            </a:r>
          </a:p>
        </p:txBody>
      </p:sp>
      <p:sp>
        <p:nvSpPr>
          <p:cNvPr id="9922" name="Shape 9922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2" name="TextBox 10022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2" name="TextBox 10122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22/31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vision/gesture_logic.py 手勢邏輯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can_trigger()：統一管理冷卻時間，避免同一手勢短時間重複觸發。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19812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1336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detect_swipe()：用食指指尖 x/y 位移判斷 LEFT、RIGHT、PLUS、MINUS。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9337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0861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detect_ok_gesture()：拇指與食指靠近，且其他三指伸直時觸發 CHECKOUT。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38862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40386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detect_mode_switch()：要求張開手掌穩定停留，降低一般滑動時誤切模式。</a:t>
            </a:r>
          </a:p>
        </p:txBody>
      </p:sp>
      <p:sp>
        <p:nvSpPr>
          <p:cNvPr id="24" name="Shape 24"/>
          <p:cNvSpPr/>
          <p:nvPr/>
        </p:nvSpPr>
        <p:spPr>
          <a:xfrm>
            <a:off x="666750" y="48387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4" name="TextBox 54"/>
          <p:cNvSpPr txBox="1"/>
          <p:nvPr/>
        </p:nvSpPr>
        <p:spPr>
          <a:xfrm>
            <a:off x="895350" y="49911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detect_mouse_click()：拇指姿勢成立時觸發滑鼠左鍵，並用 ready 狀態避免連點。</a:t>
            </a:r>
          </a:p>
        </p:txBody>
      </p:sp>
      <p:sp>
        <p:nvSpPr>
          <p:cNvPr id="9923" name="Shape 9923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3" name="TextBox 10023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3" name="TextBox 10123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23/31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vision/hand_detector.py 手部偵測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HandDetector 優先使用 MediaPipe Tasks API，因為 landmarks 品質較穩。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22098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3622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Tasks 初始化失敗時改用 MediaPipe Solutions，增加環境相容性。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3162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314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若 MediaPipe 無法使用，可保留 OpenCV fallback 方便開發除錯。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41148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42672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SimpleLandmarksContainer 統一輸出格式，讓 GestureLogic 不需知道目前是哪種偵測器。</a:t>
            </a:r>
          </a:p>
        </p:txBody>
      </p:sp>
      <p:sp>
        <p:nvSpPr>
          <p:cNvPr id="9924" name="Shape 9924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4" name="TextBox 10024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4" name="TextBox 10124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24/31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vision/webcam.py 攝影機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初始化時設定解析度與 FPS，提升手部偵測畫面品質。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19812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1336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get_frame() 會鏡像畫面，讓使用者看到的方向與手勢方向一致。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7051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28575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release() 負責釋放攝影機資源，避免下次啟動時被占用。</a:t>
            </a:r>
          </a:p>
        </p:txBody>
      </p:sp>
      <p:sp>
        <p:nvSpPr>
          <p:cNvPr id="9925" name="Shape 9925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5" name="TextBox 10025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5" name="TextBox 10125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25/31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control/focus_mode.py Focus 模式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current_index 記錄目前選到第幾個餐點。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19812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1336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RIGHT / LEFT 會用循環方式切換餐點，讓使用者不用擔心超出範圍。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7051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28575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PLUS / MINUS 對目前餐點加減數量。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34290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35814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CHECKOUT 不改變餐點索引，而是通知前端進入確認流程。</a:t>
            </a:r>
          </a:p>
        </p:txBody>
      </p:sp>
      <p:sp>
        <p:nvSpPr>
          <p:cNvPr id="9926" name="Shape 9926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6" name="TextBox 10026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6" name="TextBox 10126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26/31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control/virtual_mouse.py 虛擬滑鼠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使用 Windows user32 API 控制游標，符合目前展示環境。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19812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1336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move_by() 用相對位移控制游標，是主系統 Mouse Mode 的核心。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9337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0861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_initialize_from_system_cursor() 先讀取目前游標位置，避免切換模式時游標突然跳動。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38862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40386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click_left() 模擬滑鼠左鍵按下與放開。</a:t>
            </a:r>
          </a:p>
        </p:txBody>
      </p:sp>
      <p:sp>
        <p:nvSpPr>
          <p:cNvPr id="9927" name="Shape 9927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7" name="TextBox 10027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7" name="TextBox 10127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27/31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flask_server/app.py Flask 後端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home() 回傳主頁 index.html。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19812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1336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handle_mode_change() 接收前端模式切換，並同步通知所有連線端。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9337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0861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handle_gesture() 接收 main.py 傳來的手勢，只有 Focus Mode 會更新菜單。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38862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40386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FocusMode(item_count=5) 表示後端只管理 5 個餐點，確認餐點由 OK 手勢獨立觸發。</a:t>
            </a:r>
          </a:p>
        </p:txBody>
      </p:sp>
      <p:sp>
        <p:nvSpPr>
          <p:cNvPr id="9928" name="Shape 9928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8" name="TextBox 10028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8" name="TextBox 10128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28/31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flask_server/static/script.js 前端互動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getSelectableItems() 取得 5 個餐點卡片，確認餐點不混入餐點循環。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22098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3622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increase() / decrease() 更新數量與總金額。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9337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0861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handleCheckoutConfirm() 是兩段式 OK 的核心：明細未開時開明細，已開時送出訂單。</a:t>
            </a:r>
          </a:p>
        </p:txBody>
      </p:sp>
      <p:sp>
        <p:nvSpPr>
          <p:cNvPr id="23" name="Shape 23"/>
          <p:cNvSpPr/>
          <p:nvPr/>
        </p:nvSpPr>
        <p:spPr>
          <a:xfrm>
            <a:off x="666750" y="38862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895350" y="40386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socket.on('focus_update') 依 MOVE、INCREASE、DECREASE、CHECKOUT 更新 UI。</a:t>
            </a:r>
          </a:p>
        </p:txBody>
      </p:sp>
      <p:sp>
        <p:nvSpPr>
          <p:cNvPr id="9929" name="Shape 9929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9" name="TextBox 10029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29" name="TextBox 10129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29/31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flask_server/templates/index.html 與 style.css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index.html 負責菜單結構、模式區、手勢教學、確認餐點與訂單明細彈窗。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22098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3622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style.css 用卡片、右側教學、底部狀態列分區，讓展示時畫面清楚。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9337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0861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手勢教學使用 SVG 貼圖，讓使用者能直接看懂每個動作。</a:t>
            </a:r>
          </a:p>
        </p:txBody>
      </p:sp>
      <p:sp>
        <p:nvSpPr>
          <p:cNvPr id="9930" name="Shape 9930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0" name="TextBox 10030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30" name="TextBox 10130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30/31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3238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3200" b="1">
                <a:solidFill>
                  <a:srgbClr val="20242A"/>
                </a:solidFill>
                <a:latin typeface="Microsoft JhengHei"/>
                <a:ea typeface="Microsoft JhengHei"/>
              </a:rPr>
              <a:t>tests/test_gesture_logic.py 測試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83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400" b="1">
                <a:solidFill>
                  <a:srgbClr val="F08A24"/>
                </a:solidFill>
                <a:latin typeface="Microsoft JhengHei"/>
                <a:ea typeface="Microsoft JhengHei"/>
              </a:rPr>
              <a:t>程式碼分區註解文字稿</a:t>
            </a:r>
          </a:p>
        </p:txBody>
      </p:sp>
      <p:sp>
        <p:nvSpPr>
          <p:cNvPr id="20" name="Shape 20"/>
          <p:cNvSpPr/>
          <p:nvPr/>
        </p:nvSpPr>
        <p:spPr>
          <a:xfrm>
            <a:off x="666750" y="1257300"/>
            <a:ext cx="108585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95350" y="14097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使用簡化 Landmark 模擬 MediaPipe 輸出，讓測試不依賴攝影機。</a:t>
            </a:r>
          </a:p>
        </p:txBody>
      </p:sp>
      <p:sp>
        <p:nvSpPr>
          <p:cNvPr id="21" name="Shape 21"/>
          <p:cNvSpPr/>
          <p:nvPr/>
        </p:nvSpPr>
        <p:spPr>
          <a:xfrm>
            <a:off x="666750" y="22098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895350" y="23622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測試張開手掌、模式切換、左右滑、上下滑與 OK 手勢。</a:t>
            </a:r>
          </a:p>
        </p:txBody>
      </p:sp>
      <p:sp>
        <p:nvSpPr>
          <p:cNvPr id="22" name="Shape 22"/>
          <p:cNvSpPr/>
          <p:nvPr/>
        </p:nvSpPr>
        <p:spPr>
          <a:xfrm>
            <a:off x="666750" y="2933700"/>
            <a:ext cx="10858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95350" y="30861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800">
                <a:solidFill>
                  <a:srgbClr val="20242A"/>
                </a:solidFill>
                <a:latin typeface="Microsoft JhengHei"/>
                <a:ea typeface="Microsoft JhengHei"/>
              </a:rPr>
              <a:t>目前 6 個單元測試通過，可降低手勢邏輯修改後壞掉的風險。</a:t>
            </a:r>
          </a:p>
        </p:txBody>
      </p:sp>
      <p:sp>
        <p:nvSpPr>
          <p:cNvPr id="9931" name="Shape 9931"/>
          <p:cNvSpPr/>
          <p:nvPr/>
        </p:nvSpPr>
        <p:spPr>
          <a:xfrm>
            <a:off x="381000" y="6419850"/>
            <a:ext cx="11430000" cy="9525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1" name="TextBox 10031"/>
          <p:cNvSpPr txBox="1"/>
          <p:nvPr/>
        </p:nvSpPr>
        <p:spPr>
          <a:xfrm>
            <a:off x="419100" y="6477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Gesture Control System</a:t>
            </a:r>
          </a:p>
        </p:txBody>
      </p:sp>
      <p:sp>
        <p:nvSpPr>
          <p:cNvPr id="10131" name="TextBox 10131"/>
          <p:cNvSpPr txBox="1"/>
          <p:nvPr/>
        </p:nvSpPr>
        <p:spPr>
          <a:xfrm>
            <a:off x="10858500" y="6477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TW" sz="1100">
                <a:solidFill>
                  <a:srgbClr val="69707A"/>
                </a:solidFill>
                <a:latin typeface="Microsoft JhengHei"/>
                <a:ea typeface="Microsoft JhengHei"/>
              </a:rPr>
              <a:t>31/31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ure Theme">
  <a:themeElements>
    <a:clrScheme name="Gesture">
      <a:dk1>
        <a:srgbClr val="20242A"/>
      </a:dk1>
      <a:lt1>
        <a:srgbClr val="FFFFFF"/>
      </a:lt1>
      <a:dk2>
        <a:srgbClr val="18212B"/>
      </a:dk2>
      <a:lt2>
        <a:srgbClr val="F7F9FC"/>
      </a:lt2>
      <a:accent1>
        <a:srgbClr val="F08A24"/>
      </a:accent1>
      <a:accent2>
        <a:srgbClr val="1565C0"/>
      </a:accent2>
      <a:accent3>
        <a:srgbClr val="2F9E44"/>
      </a:accent3>
      <a:accent4>
        <a:srgbClr val="69707A"/>
      </a:accent4>
      <a:accent5>
        <a:srgbClr val="D9E1EA"/>
      </a:accent5>
      <a:accent6>
        <a:srgbClr val="FFF3E6"/>
      </a:accent6>
      <a:hlink>
        <a:srgbClr val="1565C0"/>
      </a:hlink>
      <a:folHlink>
        <a:srgbClr val="69707A"/>
      </a:folHlink>
    </a:clrScheme>
    <a:fontScheme name="Gesture">
      <a:majorFont>
        <a:latin typeface="Microsoft JhengHei"/>
        <a:ea typeface="Microsoft JhengHei"/>
      </a:majorFont>
      <a:minorFont>
        <a:latin typeface="Microsoft JhengHei"/>
        <a:ea typeface="Microsoft JhengHei"/>
      </a:minorFont>
    </a:fontScheme>
    <a:fmtScheme name="Gestur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31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 Control System 期末報告</dc:title>
  <dc:creator>Codex</dc:creator>
</cp:coreProperties>
</file>